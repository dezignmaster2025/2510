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8"/>
  </p:notesMasterIdLst>
  <p:handoutMasterIdLst>
    <p:handoutMasterId r:id="rId19"/>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ct Chapter 12 Summary" id="{7748BBE7-EDD6-4575-82D4-D8EF6264DC44}">
          <p14:sldIdLst>
            <p14:sldId id="2561"/>
          </p14:sldIdLst>
        </p14:section>
        <p14:section name="Lesson Overview" id="{45BE7080-022F-4A20-BC18-6BB2A01476C4}">
          <p14:sldIdLst>
            <p14:sldId id="2562"/>
            <p14:sldId id="2563"/>
          </p14:sldIdLst>
        </p14:section>
        <p14:section name="Core Topics" id="{1458EF04-540D-47AC-BBF3-1B39B3B5C921}">
          <p14:sldIdLst>
            <p14:sldId id="2564"/>
            <p14:sldId id="2565"/>
          </p14:sldIdLst>
        </p14:section>
        <p14:section name="React Vocabulary" id="{46612553-6673-46FE-B857-8AA2D1237D00}">
          <p14:sldIdLst>
            <p14:sldId id="2566"/>
            <p14:sldId id="2567"/>
          </p14:sldIdLst>
        </p14:section>
        <p14:section name="Code Implementation" id="{C01D213F-F77F-4134-9BE5-BC490B71A4E9}">
          <p14:sldIdLst>
            <p14:sldId id="2568"/>
            <p14:sldId id="2569"/>
          </p14:sldIdLst>
        </p14:section>
        <p14:section name="Best Practices" id="{0B345DBB-D4E7-4A7B-BABE-068208614424}">
          <p14:sldIdLst>
            <p14:sldId id="2570"/>
            <p14:sldId id="2571"/>
          </p14:sldIdLst>
        </p14:section>
        <p14:section name="Reference Materials" id="{C5BB42FB-890A-4282-A818-20D9DB688CEF}">
          <p14:sldIdLst>
            <p14:sldId id="2572"/>
            <p14:sldId id="25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242784-497C-4019-A304-D428446D0F4E}" v="16" dt="2025-11-05T22:39:52.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autoAdjust="0"/>
    <p:restoredTop sz="94630"/>
  </p:normalViewPr>
  <p:slideViewPr>
    <p:cSldViewPr showGuides="1">
      <p:cViewPr>
        <p:scale>
          <a:sx n="100" d="100"/>
          <a:sy n="100" d="100"/>
        </p:scale>
        <p:origin x="-72" y="-53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11/5/2025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070738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Lesson Objectives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872852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outlines the key learning objectives for React Chapter 12. Students will learn how to manage form state using controlled components, which are essential for synchronizing user input with component state. They will also understand how to implement form submission using the onSubmit event handler and preventDefault method to avoid page reloads. Another objective is to track input values using the useState hook, enabling dynamic updates and rendering. Learners will also explore how to create reusable form components to promote modularity and maintainability. Additionally, the chapter covers how to use async/await with Axios for handling HTTP requests efficiently. Finally, students will be introduced to evolving React features and best practices to prepare for future updates in the React ecosystem.</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416234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Topics Covered</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381785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delves into the main topics covered in React Chapter 12. It begins with using Axios for HTTP requests, which simplifies data fetching and integrates well with React's component lifecycle. The chapter explains how to use async/await syntax with Axios to handle asynchronous operations cleanly and avoid callback hell. Form submission is another critical topic, where learners understand how to capture and process user input using the onSubmit event. The chapter also introduces conditional rendering techniques to display different UI elements based on the state of data fetching or user interaction. These topics collectively provide a comprehensive understanding of building interactive and data-driven forms in React applications.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065553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https://www.youtube.com/watch?v=CaShN6mCJB0
Vocabulary Terms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239152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https://www.youtube.com/watch?v=CaShN6mCJB0
This section lists and explains key vocabulary terms essential for mastering React Chapter 12. 'useState' is a hook that allows functional components to manage local state. 'onSubmit' is an event handler used to capture form submissions. 'preventDefault' is a method that prevents the default browser behavior, such as page reloads during form submission. 'Axios' is a promise-based HTTP client used for making API requests. 'async/await' is a syntax for handling asynchronous operations in a readable and maintainable way. 'Controlled component' refers to form elements whose values are managed by React state. 'Conditional rendering' is a technique for displaying UI elements based on specific conditions, enhancing user experience and application responsiveness.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417900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Code Snippets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585553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presents essential code snippets that illustrate the practical implementation of concepts discussed in React Chapter 12. The useState hook is demonstrated with 'const [name, setName] = useState('');' to manage input state. A form element is shown with '&lt;form onSubmit={handleSubmit}&gt;...&lt;/form&gt;' to capture user submissions. Axios is used with 'await axios.get('/api/data');' to fetch data asynchronously. Conditional rendering is exemplified with '{loading ? 'Loading...' : 'Loaded'}' to dynamically display content based on the loading state. These snippets provide learners with concrete examples to reinforce their understanding and facilitate hands-on practice.</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60852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514793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outlines best practices for building robust and maintainable React applications. Developers are encouraged to use controlled components to ensure consistent state management across form elements. The use of preventDefault in form submissions is recommended to avoid unwanted page reloads and maintain application flow. Wrapping Axios calls in try/catch blocks is advised for effective error handling and debugging. Conditional rendering should be employed to enhance user experience by displaying appropriate UI elements based on application state. Creating reusable components is emphasized to promote code reusability, reduce duplication, and improve maintainability. These practices help developers write clean, efficient, and scalable React code.</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709234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https://www.youtube.com/watch?v=CAEuTN4qYqI,https://www.youtube.com/watch?v=jcKO2KWYqds
References
</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2728587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https://www.youtube.com/watch?v=CAEuTN4qYqI,https://www.youtube.com/watch?v=jcKO2KWYqds
This section provides a curated list of reference materials to support further learning and exploration of React Chapter 12 topics. The React official documentation at reactjs.org/docs offers comprehensive coverage of React concepts, components, and hooks. The Forms Tutorial on YouTube (youtube.com/watch?v=H63Pd_lXkeQ) explains how to build and manage forms using controlled components. The useState Hook tutorial (youtube.com/watch?v=O6P86uwfdR0) covers state management in functional components. Axios Async tutorial (youtube.com/watch?v=pMLf0zDzulQ) demonstrates how to handle HTTP requests using async/await. Conditional Rendering tutorial (youtube.com/watch?v=7o5FPaVA9m0) shows how to display UI elements based on state. React Forms Best Practices video (youtube.com/watch?v=tIdNeoHniEY) outlines strategies for building scalable and maintainable forms. These resources provide valuable insights and practical examples to reinforce learning.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513249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dirty="0"/>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11/5/2025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dirty="0"/>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dirty="0"/>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11/5/2025</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11/5/2025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11/5/2025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dirty="0"/>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11/5/2025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11/5/2025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11/5/2025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11/5/2025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dirty="0"/>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11/5/2025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11/5/2025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dirty="0"/>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11/5/2025</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11/5/2025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11/5/2025</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dirty="0"/>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11/5/2025</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11/5/2025</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dirty="0"/>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11/5/2025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dirty="0"/>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11/5/2025</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dirty="0"/>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11/5/2025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dirty="0"/>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11/5/2025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11/5/2025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11/5/2025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11/5/2025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11/5/2025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11/5/2025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11/5/2025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11/5/2025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11/5/2025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11/5/2025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11/5/2025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11/5/2025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11/5/2025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11/5/2025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89D6-7128-7508-367D-90A0B9B679BE}"/>
              </a:ext>
            </a:extLst>
          </p:cNvPr>
          <p:cNvSpPr>
            <a:spLocks noGrp="1"/>
          </p:cNvSpPr>
          <p:nvPr>
            <p:ph type="ctrTitle"/>
          </p:nvPr>
        </p:nvSpPr>
        <p:spPr>
          <a:xfrm>
            <a:off x="612646" y="1600200"/>
            <a:ext cx="10483927" cy="3492875"/>
          </a:xfrm>
        </p:spPr>
        <p:txBody>
          <a:bodyPr anchor="b">
            <a:normAutofit/>
          </a:bodyPr>
          <a:lstStyle/>
          <a:p>
            <a:r>
              <a:rPr lang="en-US"/>
              <a:t>React Chapter 12 Summary</a:t>
            </a:r>
          </a:p>
        </p:txBody>
      </p:sp>
      <p:sp>
        <p:nvSpPr>
          <p:cNvPr id="3" name="Subtitle 2">
            <a:extLst>
              <a:ext uri="{FF2B5EF4-FFF2-40B4-BE49-F238E27FC236}">
                <a16:creationId xmlns:a16="http://schemas.microsoft.com/office/drawing/2014/main" id="{9AEA818E-41D2-ED57-A675-BF072F12ECCE}"/>
              </a:ext>
            </a:extLst>
          </p:cNvPr>
          <p:cNvSpPr>
            <a:spLocks noGrp="1"/>
          </p:cNvSpPr>
          <p:nvPr>
            <p:ph type="subTitle" idx="1"/>
          </p:nvPr>
        </p:nvSpPr>
        <p:spPr>
          <a:xfrm>
            <a:off x="612646" y="5931314"/>
            <a:ext cx="10483927" cy="816864"/>
          </a:xfrm>
        </p:spPr>
        <p:txBody>
          <a:bodyPr>
            <a:normAutofit/>
          </a:bodyPr>
          <a:lstStyle/>
          <a:p>
            <a:r>
              <a:rPr lang="en-US"/>
              <a:t>Key concepts and highlights from the chapter</a:t>
            </a:r>
          </a:p>
        </p:txBody>
      </p:sp>
    </p:spTree>
    <p:extLst>
      <p:ext uri="{BB962C8B-B14F-4D97-AF65-F5344CB8AC3E}">
        <p14:creationId xmlns:p14="http://schemas.microsoft.com/office/powerpoint/2010/main" val="78389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2509-B6C0-4BAB-3E07-9B38B646B5F1}"/>
              </a:ext>
            </a:extLst>
          </p:cNvPr>
          <p:cNvSpPr>
            <a:spLocks noGrp="1"/>
          </p:cNvSpPr>
          <p:nvPr>
            <p:ph type="ctrTitle"/>
          </p:nvPr>
        </p:nvSpPr>
        <p:spPr>
          <a:xfrm>
            <a:off x="609600" y="990600"/>
            <a:ext cx="10058400" cy="5029200"/>
          </a:xfrm>
        </p:spPr>
        <p:txBody>
          <a:bodyPr anchor="b">
            <a:normAutofit/>
          </a:bodyPr>
          <a:lstStyle/>
          <a:p>
            <a:r>
              <a:rPr lang="en-US"/>
              <a:t>Lesson Overview</a:t>
            </a:r>
          </a:p>
        </p:txBody>
      </p:sp>
    </p:spTree>
    <p:extLst>
      <p:ext uri="{BB962C8B-B14F-4D97-AF65-F5344CB8AC3E}">
        <p14:creationId xmlns:p14="http://schemas.microsoft.com/office/powerpoint/2010/main" val="925116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C523-BF2E-72D4-7E8F-3726B9826B65}"/>
              </a:ext>
            </a:extLst>
          </p:cNvPr>
          <p:cNvSpPr>
            <a:spLocks noGrp="1"/>
          </p:cNvSpPr>
          <p:nvPr>
            <p:ph type="title"/>
          </p:nvPr>
        </p:nvSpPr>
        <p:spPr>
          <a:xfrm>
            <a:off x="609599" y="685800"/>
            <a:ext cx="4564763" cy="1426798"/>
          </a:xfrm>
        </p:spPr>
        <p:txBody>
          <a:bodyPr anchor="b">
            <a:normAutofit/>
          </a:bodyPr>
          <a:lstStyle/>
          <a:p>
            <a:r>
              <a:rPr lang="en-US"/>
              <a:t>Lesson Objectives</a:t>
            </a:r>
          </a:p>
        </p:txBody>
      </p:sp>
      <p:pic>
        <p:nvPicPr>
          <p:cNvPr id="5" name="Content Placeholder 4" descr="4K Resolution">
            <a:extLst>
              <a:ext uri="{FF2B5EF4-FFF2-40B4-BE49-F238E27FC236}">
                <a16:creationId xmlns:a16="http://schemas.microsoft.com/office/drawing/2014/main" id="{A6B9C181-40BF-46E5-A0C5-7FAFAB661962}"/>
              </a:ext>
            </a:extLst>
          </p:cNvPr>
          <p:cNvPicPr>
            <a:picLocks noGrp="1" noChangeAspect="1"/>
          </p:cNvPicPr>
          <p:nvPr>
            <p:ph type="pic" sz="quarter" idx="15"/>
          </p:nvPr>
        </p:nvPicPr>
        <p:blipFill>
          <a:blip r:embed="rId3"/>
          <a:srcRect l="14534" r="14861" b="2"/>
          <a:stretch>
            <a:fillRect/>
          </a:stretch>
        </p:blipFill>
        <p:spPr>
          <a:xfrm>
            <a:off x="609599" y="2514600"/>
            <a:ext cx="4564763" cy="3636598"/>
          </a:xfrm>
          <a:prstGeom prst="rect">
            <a:avLst/>
          </a:prstGeom>
          <a:noFill/>
        </p:spPr>
      </p:pic>
      <p:sp>
        <p:nvSpPr>
          <p:cNvPr id="4" name="Content Placeholder 3">
            <a:extLst>
              <a:ext uri="{FF2B5EF4-FFF2-40B4-BE49-F238E27FC236}">
                <a16:creationId xmlns:a16="http://schemas.microsoft.com/office/drawing/2014/main" id="{D95B15D3-6DFC-E473-FBC1-D914BF5D80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Form State Management</a:t>
            </a:r>
          </a:p>
          <a:p>
            <a:pPr marL="0" lvl="1" indent="0">
              <a:buFont typeface="Arial" panose="020B0604020202020204" pitchFamily="34" charset="0"/>
              <a:buNone/>
            </a:pPr>
            <a:r>
              <a:t>Learn to use controlled components to synchronize user input with component state effectively.</a:t>
            </a:r>
            <a:endParaRPr lang="en-US"/>
          </a:p>
          <a:p>
            <a:pPr marL="0" indent="0">
              <a:spcBef>
                <a:spcPts val="2500"/>
              </a:spcBef>
              <a:buFont typeface="Arial" panose="020B0604020202020204" pitchFamily="34" charset="0"/>
              <a:buNone/>
            </a:pPr>
            <a:r>
              <a:rPr lang="en-US" b="1"/>
              <a:t>Form Submission Handling</a:t>
            </a:r>
          </a:p>
          <a:p>
            <a:pPr marL="0" lvl="1" indent="0">
              <a:buFont typeface="Arial" panose="020B0604020202020204" pitchFamily="34" charset="0"/>
              <a:buNone/>
            </a:pPr>
            <a:r>
              <a:t>Understand using onSubmit event and preventDefault to handle form submission without page reloads.</a:t>
            </a:r>
            <a:endParaRPr lang="en-US"/>
          </a:p>
          <a:p>
            <a:pPr marL="0" indent="0">
              <a:spcBef>
                <a:spcPts val="2500"/>
              </a:spcBef>
              <a:buFont typeface="Arial" panose="020B0604020202020204" pitchFamily="34" charset="0"/>
              <a:buNone/>
            </a:pPr>
            <a:r>
              <a:rPr lang="en-US" b="1"/>
              <a:t>Reusable Components</a:t>
            </a:r>
          </a:p>
          <a:p>
            <a:pPr marL="0" lvl="1" indent="0">
              <a:buFont typeface="Arial" panose="020B0604020202020204" pitchFamily="34" charset="0"/>
              <a:buNone/>
            </a:pPr>
            <a:r>
              <a:t>Explore creating modular, reusable form components to enhance maintainability and code reuse.</a:t>
            </a:r>
            <a:endParaRPr lang="en-US"/>
          </a:p>
          <a:p>
            <a:pPr marL="0" indent="0">
              <a:spcBef>
                <a:spcPts val="2500"/>
              </a:spcBef>
              <a:buFont typeface="Arial" panose="020B0604020202020204" pitchFamily="34" charset="0"/>
              <a:buNone/>
            </a:pPr>
            <a:r>
              <a:rPr lang="en-US" b="1"/>
              <a:t>Async Operations with Axios</a:t>
            </a:r>
          </a:p>
          <a:p>
            <a:pPr marL="0" lvl="1" indent="0">
              <a:buFont typeface="Arial" panose="020B0604020202020204" pitchFamily="34" charset="0"/>
              <a:buNone/>
            </a:pPr>
            <a:r>
              <a:t>Learn to use async/await with Axios for efficient HTTP request handling in React applications.</a:t>
            </a:r>
            <a:endParaRPr lang="en-US"/>
          </a:p>
        </p:txBody>
      </p:sp>
    </p:spTree>
    <p:extLst>
      <p:ext uri="{BB962C8B-B14F-4D97-AF65-F5344CB8AC3E}">
        <p14:creationId xmlns:p14="http://schemas.microsoft.com/office/powerpoint/2010/main" val="42468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BB308-C084-F223-F113-CD1ED8E79C45}"/>
              </a:ext>
            </a:extLst>
          </p:cNvPr>
          <p:cNvSpPr>
            <a:spLocks noGrp="1"/>
          </p:cNvSpPr>
          <p:nvPr>
            <p:ph type="ctrTitle"/>
          </p:nvPr>
        </p:nvSpPr>
        <p:spPr>
          <a:xfrm>
            <a:off x="609600" y="990600"/>
            <a:ext cx="10058400" cy="5029200"/>
          </a:xfrm>
        </p:spPr>
        <p:txBody>
          <a:bodyPr anchor="b">
            <a:normAutofit/>
          </a:bodyPr>
          <a:lstStyle/>
          <a:p>
            <a:r>
              <a:rPr lang="en-US"/>
              <a:t>Core Topics</a:t>
            </a:r>
          </a:p>
        </p:txBody>
      </p:sp>
    </p:spTree>
    <p:extLst>
      <p:ext uri="{BB962C8B-B14F-4D97-AF65-F5344CB8AC3E}">
        <p14:creationId xmlns:p14="http://schemas.microsoft.com/office/powerpoint/2010/main" val="964946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BC58-0486-50F6-2438-CEEFB9242ABA}"/>
              </a:ext>
            </a:extLst>
          </p:cNvPr>
          <p:cNvSpPr>
            <a:spLocks noGrp="1"/>
          </p:cNvSpPr>
          <p:nvPr>
            <p:ph type="title"/>
          </p:nvPr>
        </p:nvSpPr>
        <p:spPr>
          <a:xfrm>
            <a:off x="609599" y="685800"/>
            <a:ext cx="4564763" cy="1426798"/>
          </a:xfrm>
        </p:spPr>
        <p:txBody>
          <a:bodyPr anchor="b">
            <a:normAutofit/>
          </a:bodyPr>
          <a:lstStyle/>
          <a:p>
            <a:r>
              <a:rPr lang="en-US"/>
              <a:t>Topics Covered</a:t>
            </a:r>
          </a:p>
        </p:txBody>
      </p:sp>
      <p:pic>
        <p:nvPicPr>
          <p:cNvPr id="5" name="Content Placeholder 4" descr="Atom concept on digital display">
            <a:extLst>
              <a:ext uri="{FF2B5EF4-FFF2-40B4-BE49-F238E27FC236}">
                <a16:creationId xmlns:a16="http://schemas.microsoft.com/office/drawing/2014/main" id="{369A6B4E-CEAC-4DBC-87A2-18BDF2F5E0B1}"/>
              </a:ext>
            </a:extLst>
          </p:cNvPr>
          <p:cNvPicPr>
            <a:picLocks noGrp="1" noChangeAspect="1"/>
          </p:cNvPicPr>
          <p:nvPr>
            <p:ph type="pic" sz="quarter" idx="15"/>
          </p:nvPr>
        </p:nvPicPr>
        <p:blipFill>
          <a:blip r:embed="rId3"/>
          <a:srcRect l="13399" r="8147" b="-3"/>
          <a:stretch>
            <a:fillRect/>
          </a:stretch>
        </p:blipFill>
        <p:spPr>
          <a:xfrm>
            <a:off x="609599" y="2514600"/>
            <a:ext cx="4564763" cy="3636598"/>
          </a:xfrm>
          <a:prstGeom prst="rect">
            <a:avLst/>
          </a:prstGeom>
          <a:noFill/>
        </p:spPr>
      </p:pic>
      <p:sp>
        <p:nvSpPr>
          <p:cNvPr id="4" name="Content Placeholder 3">
            <a:extLst>
              <a:ext uri="{FF2B5EF4-FFF2-40B4-BE49-F238E27FC236}">
                <a16:creationId xmlns:a16="http://schemas.microsoft.com/office/drawing/2014/main" id="{C5A87A40-F42F-F696-8F17-24348BBB42C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Axios for HTTP Requests</a:t>
            </a:r>
          </a:p>
          <a:p>
            <a:pPr marL="0" lvl="1" indent="0">
              <a:buFont typeface="Arial" panose="020B0604020202020204" pitchFamily="34" charset="0"/>
              <a:buNone/>
            </a:pPr>
            <a:r>
              <a:t>Axios simplifies data fetching and integrates smoothly with React's component lifecycle for efficient HTTP calls.</a:t>
            </a:r>
            <a:endParaRPr lang="en-US"/>
          </a:p>
          <a:p>
            <a:pPr marL="0" indent="0">
              <a:spcBef>
                <a:spcPts val="2500"/>
              </a:spcBef>
              <a:buFont typeface="Arial" panose="020B0604020202020204" pitchFamily="34" charset="0"/>
              <a:buNone/>
            </a:pPr>
            <a:r>
              <a:rPr lang="en-US" b="1"/>
              <a:t>Async/Await Syntax</a:t>
            </a:r>
          </a:p>
          <a:p>
            <a:pPr marL="0" lvl="1" indent="0">
              <a:buFont typeface="Arial" panose="020B0604020202020204" pitchFamily="34" charset="0"/>
              <a:buNone/>
            </a:pPr>
            <a:r>
              <a:t>Async/await syntax is used with Axios to manage asynchronous operations clearly and avoid callback hell.</a:t>
            </a:r>
            <a:endParaRPr lang="en-US"/>
          </a:p>
          <a:p>
            <a:pPr marL="0" indent="0">
              <a:spcBef>
                <a:spcPts val="2500"/>
              </a:spcBef>
              <a:buFont typeface="Arial" panose="020B0604020202020204" pitchFamily="34" charset="0"/>
              <a:buNone/>
            </a:pPr>
            <a:r>
              <a:rPr lang="en-US" b="1"/>
              <a:t>Form Submission Handling</a:t>
            </a:r>
          </a:p>
          <a:p>
            <a:pPr marL="0" lvl="1" indent="0">
              <a:buFont typeface="Arial" panose="020B0604020202020204" pitchFamily="34" charset="0"/>
              <a:buNone/>
            </a:pPr>
            <a:r>
              <a:t>Learners explore capturing and processing user input via React's onSubmit event for interactive forms.</a:t>
            </a:r>
            <a:endParaRPr lang="en-US"/>
          </a:p>
          <a:p>
            <a:pPr marL="0" indent="0">
              <a:spcBef>
                <a:spcPts val="2500"/>
              </a:spcBef>
              <a:buFont typeface="Arial" panose="020B0604020202020204" pitchFamily="34" charset="0"/>
              <a:buNone/>
            </a:pPr>
            <a:r>
              <a:rPr lang="en-US" b="1"/>
              <a:t>Conditional Rendering Techniques</a:t>
            </a:r>
          </a:p>
          <a:p>
            <a:pPr marL="0" lvl="1" indent="0">
              <a:buFont typeface="Arial" panose="020B0604020202020204" pitchFamily="34" charset="0"/>
              <a:buNone/>
            </a:pPr>
            <a:r>
              <a:t>Conditional rendering displays different UI elements based on data fetching state or user interaction in React.</a:t>
            </a:r>
            <a:endParaRPr lang="en-US"/>
          </a:p>
        </p:txBody>
      </p:sp>
    </p:spTree>
    <p:extLst>
      <p:ext uri="{BB962C8B-B14F-4D97-AF65-F5344CB8AC3E}">
        <p14:creationId xmlns:p14="http://schemas.microsoft.com/office/powerpoint/2010/main" val="39738131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974C-7AA2-3362-9B15-7E9A55C1A2AC}"/>
              </a:ext>
            </a:extLst>
          </p:cNvPr>
          <p:cNvSpPr>
            <a:spLocks noGrp="1"/>
          </p:cNvSpPr>
          <p:nvPr>
            <p:ph type="ctrTitle"/>
          </p:nvPr>
        </p:nvSpPr>
        <p:spPr>
          <a:xfrm>
            <a:off x="609600" y="990600"/>
            <a:ext cx="10058400" cy="5029200"/>
          </a:xfrm>
        </p:spPr>
        <p:txBody>
          <a:bodyPr anchor="b">
            <a:normAutofit/>
          </a:bodyPr>
          <a:lstStyle/>
          <a:p>
            <a:r>
              <a:rPr lang="en-US"/>
              <a:t>React Vocabulary</a:t>
            </a:r>
          </a:p>
        </p:txBody>
      </p:sp>
    </p:spTree>
    <p:extLst>
      <p:ext uri="{BB962C8B-B14F-4D97-AF65-F5344CB8AC3E}">
        <p14:creationId xmlns:p14="http://schemas.microsoft.com/office/powerpoint/2010/main" val="878220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7F3A-A78C-DE96-7C90-555CA39CA439}"/>
              </a:ext>
            </a:extLst>
          </p:cNvPr>
          <p:cNvSpPr>
            <a:spLocks noGrp="1"/>
          </p:cNvSpPr>
          <p:nvPr>
            <p:ph type="title"/>
          </p:nvPr>
        </p:nvSpPr>
        <p:spPr>
          <a:xfrm>
            <a:off x="614677" y="685800"/>
            <a:ext cx="3652523" cy="4102460"/>
          </a:xfrm>
        </p:spPr>
        <p:txBody>
          <a:bodyPr anchor="t">
            <a:normAutofit/>
          </a:bodyPr>
          <a:lstStyle/>
          <a:p>
            <a:r>
              <a:rPr lang="en-US" sz="4200"/>
              <a:t>Vocabulary Terms</a:t>
            </a:r>
          </a:p>
        </p:txBody>
      </p:sp>
      <p:sp>
        <p:nvSpPr>
          <p:cNvPr id="3" name="Content Placeholder 2">
            <a:extLst>
              <a:ext uri="{FF2B5EF4-FFF2-40B4-BE49-F238E27FC236}">
                <a16:creationId xmlns:a16="http://schemas.microsoft.com/office/drawing/2014/main" id="{14796F7E-68BF-A074-F0C3-669D75AAD65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81600" y="685800"/>
            <a:ext cx="6394703" cy="5455003"/>
          </a:xfrm>
        </p:spPr>
        <p:txBody>
          <a:bodyPr>
            <a:normAutofit/>
          </a:bodyPr>
          <a:lstStyle/>
          <a:p>
            <a:pPr marL="0" indent="0">
              <a:lnSpc>
                <a:spcPct val="90000"/>
              </a:lnSpc>
              <a:spcBef>
                <a:spcPts val="2500"/>
              </a:spcBef>
              <a:buFont typeface="Arial" panose="020B0604020202020204" pitchFamily="34" charset="0"/>
              <a:buNone/>
            </a:pPr>
            <a:r>
              <a:rPr lang="en-US" sz="1300" b="1"/>
              <a:t>useState Hook</a:t>
            </a:r>
          </a:p>
          <a:p>
            <a:pPr marL="0" lvl="1" indent="0">
              <a:lnSpc>
                <a:spcPct val="90000"/>
              </a:lnSpc>
              <a:buFont typeface="Arial" panose="020B0604020202020204" pitchFamily="34" charset="0"/>
              <a:buNone/>
            </a:pPr>
            <a:r>
              <a:rPr lang="en-US" sz="1300"/>
              <a:t>useState enables functional components to manage and update local state efficiently.</a:t>
            </a:r>
          </a:p>
          <a:p>
            <a:pPr marL="0" indent="0">
              <a:lnSpc>
                <a:spcPct val="90000"/>
              </a:lnSpc>
              <a:spcBef>
                <a:spcPts val="2500"/>
              </a:spcBef>
              <a:buFont typeface="Arial" panose="020B0604020202020204" pitchFamily="34" charset="0"/>
              <a:buNone/>
            </a:pPr>
            <a:r>
              <a:rPr lang="en-US" sz="1300" b="1"/>
              <a:t>Form Handling</a:t>
            </a:r>
          </a:p>
          <a:p>
            <a:pPr marL="0" lvl="1" indent="0">
              <a:lnSpc>
                <a:spcPct val="90000"/>
              </a:lnSpc>
              <a:buFont typeface="Arial" panose="020B0604020202020204" pitchFamily="34" charset="0"/>
              <a:buNone/>
            </a:pPr>
            <a:r>
              <a:rPr lang="en-US" sz="1300"/>
              <a:t>onSubmit captures form submissions while preventDefault stops page reloads on submit.</a:t>
            </a:r>
          </a:p>
          <a:p>
            <a:pPr marL="0" indent="0">
              <a:lnSpc>
                <a:spcPct val="90000"/>
              </a:lnSpc>
              <a:spcBef>
                <a:spcPts val="2500"/>
              </a:spcBef>
              <a:buFont typeface="Arial" panose="020B0604020202020204" pitchFamily="34" charset="0"/>
              <a:buNone/>
            </a:pPr>
            <a:r>
              <a:rPr lang="en-US" sz="1300" b="1"/>
              <a:t>Axios HTTP Client</a:t>
            </a:r>
          </a:p>
          <a:p>
            <a:pPr marL="0" lvl="1" indent="0">
              <a:lnSpc>
                <a:spcPct val="90000"/>
              </a:lnSpc>
              <a:buFont typeface="Arial" panose="020B0604020202020204" pitchFamily="34" charset="0"/>
              <a:buNone/>
            </a:pPr>
            <a:r>
              <a:rPr lang="en-US" sz="1300"/>
              <a:t>Axios is a promise-based HTTP client used to make API requests from React applications.</a:t>
            </a:r>
          </a:p>
          <a:p>
            <a:pPr marL="0" indent="0">
              <a:lnSpc>
                <a:spcPct val="90000"/>
              </a:lnSpc>
              <a:spcBef>
                <a:spcPts val="2500"/>
              </a:spcBef>
              <a:buFont typeface="Arial" panose="020B0604020202020204" pitchFamily="34" charset="0"/>
              <a:buNone/>
            </a:pPr>
            <a:r>
              <a:rPr lang="en-US" sz="1300" b="1"/>
              <a:t>Async/Await Syntax</a:t>
            </a:r>
          </a:p>
          <a:p>
            <a:pPr marL="0" lvl="1" indent="0">
              <a:lnSpc>
                <a:spcPct val="90000"/>
              </a:lnSpc>
              <a:buFont typeface="Arial" panose="020B0604020202020204" pitchFamily="34" charset="0"/>
              <a:buNone/>
            </a:pPr>
            <a:r>
              <a:rPr lang="en-US" sz="1300"/>
              <a:t>Async/await provides readable and maintainable syntax for handling asynchronous operations.</a:t>
            </a:r>
          </a:p>
          <a:p>
            <a:pPr marL="0" indent="0">
              <a:lnSpc>
                <a:spcPct val="90000"/>
              </a:lnSpc>
              <a:spcBef>
                <a:spcPts val="2500"/>
              </a:spcBef>
              <a:buFont typeface="Arial" panose="020B0604020202020204" pitchFamily="34" charset="0"/>
              <a:buNone/>
            </a:pPr>
            <a:r>
              <a:rPr lang="en-US" sz="1300" b="1"/>
              <a:t>Controlled Components</a:t>
            </a:r>
          </a:p>
          <a:p>
            <a:pPr marL="0" lvl="1" indent="0">
              <a:lnSpc>
                <a:spcPct val="90000"/>
              </a:lnSpc>
              <a:buFont typeface="Arial" panose="020B0604020202020204" pitchFamily="34" charset="0"/>
              <a:buNone/>
            </a:pPr>
            <a:r>
              <a:rPr lang="en-US" sz="1300"/>
              <a:t>Controlled components have their form values managed by React state for better control.</a:t>
            </a:r>
          </a:p>
          <a:p>
            <a:pPr marL="0" indent="0">
              <a:lnSpc>
                <a:spcPct val="90000"/>
              </a:lnSpc>
              <a:spcBef>
                <a:spcPts val="2500"/>
              </a:spcBef>
              <a:buFont typeface="Arial" panose="020B0604020202020204" pitchFamily="34" charset="0"/>
              <a:buNone/>
            </a:pPr>
            <a:r>
              <a:rPr lang="en-US" sz="1300" b="1"/>
              <a:t>Conditional Rendering</a:t>
            </a:r>
          </a:p>
          <a:p>
            <a:pPr marL="0" lvl="1" indent="0">
              <a:lnSpc>
                <a:spcPct val="90000"/>
              </a:lnSpc>
              <a:buFont typeface="Arial" panose="020B0604020202020204" pitchFamily="34" charset="0"/>
              <a:buNone/>
            </a:pPr>
            <a:r>
              <a:rPr lang="en-US" sz="1300"/>
              <a:t>Conditional rendering displays UI elements based on conditions to improve user experience.</a:t>
            </a:r>
          </a:p>
        </p:txBody>
      </p:sp>
    </p:spTree>
    <p:extLst>
      <p:ext uri="{BB962C8B-B14F-4D97-AF65-F5344CB8AC3E}">
        <p14:creationId xmlns:p14="http://schemas.microsoft.com/office/powerpoint/2010/main" val="32251469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A1480-BEEE-D420-21F8-067B30FB784B}"/>
              </a:ext>
            </a:extLst>
          </p:cNvPr>
          <p:cNvSpPr>
            <a:spLocks noGrp="1"/>
          </p:cNvSpPr>
          <p:nvPr>
            <p:ph type="ctrTitle"/>
          </p:nvPr>
        </p:nvSpPr>
        <p:spPr>
          <a:xfrm>
            <a:off x="609600" y="990600"/>
            <a:ext cx="10058400" cy="5029200"/>
          </a:xfrm>
        </p:spPr>
        <p:txBody>
          <a:bodyPr anchor="b">
            <a:normAutofit/>
          </a:bodyPr>
          <a:lstStyle/>
          <a:p>
            <a:r>
              <a:rPr lang="en-US" sz="9400"/>
              <a:t>Code Implementation</a:t>
            </a:r>
          </a:p>
        </p:txBody>
      </p:sp>
    </p:spTree>
    <p:extLst>
      <p:ext uri="{BB962C8B-B14F-4D97-AF65-F5344CB8AC3E}">
        <p14:creationId xmlns:p14="http://schemas.microsoft.com/office/powerpoint/2010/main" val="1259554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EF7D-3DB1-0ADC-21CA-85A043340CB0}"/>
              </a:ext>
            </a:extLst>
          </p:cNvPr>
          <p:cNvSpPr>
            <a:spLocks noGrp="1"/>
          </p:cNvSpPr>
          <p:nvPr>
            <p:ph type="title"/>
          </p:nvPr>
        </p:nvSpPr>
        <p:spPr>
          <a:xfrm>
            <a:off x="609599" y="685800"/>
            <a:ext cx="4564763" cy="1426798"/>
          </a:xfrm>
        </p:spPr>
        <p:txBody>
          <a:bodyPr anchor="b">
            <a:normAutofit/>
          </a:bodyPr>
          <a:lstStyle/>
          <a:p>
            <a:r>
              <a:rPr lang="en-US"/>
              <a:t>Key Code Snippets</a:t>
            </a:r>
          </a:p>
        </p:txBody>
      </p:sp>
      <p:pic>
        <p:nvPicPr>
          <p:cNvPr id="5" name="Content Placeholder 4" descr="Lines of code">
            <a:extLst>
              <a:ext uri="{FF2B5EF4-FFF2-40B4-BE49-F238E27FC236}">
                <a16:creationId xmlns:a16="http://schemas.microsoft.com/office/drawing/2014/main" id="{9C60BFF0-421F-4F5C-A00C-1B2427750298}"/>
              </a:ext>
            </a:extLst>
          </p:cNvPr>
          <p:cNvPicPr>
            <a:picLocks noGrp="1" noChangeAspect="1"/>
          </p:cNvPicPr>
          <p:nvPr>
            <p:ph type="pic" sz="quarter" idx="15"/>
          </p:nvPr>
        </p:nvPicPr>
        <p:blipFill>
          <a:blip r:embed="rId3"/>
          <a:srcRect l="11696" r="18639"/>
          <a:stretch>
            <a:fillRect/>
          </a:stretch>
        </p:blipFill>
        <p:spPr>
          <a:xfrm>
            <a:off x="609599" y="2514600"/>
            <a:ext cx="4564763" cy="3636598"/>
          </a:xfrm>
          <a:prstGeom prst="rect">
            <a:avLst/>
          </a:prstGeom>
          <a:noFill/>
        </p:spPr>
      </p:pic>
      <p:sp>
        <p:nvSpPr>
          <p:cNvPr id="4" name="Content Placeholder 3">
            <a:extLst>
              <a:ext uri="{FF2B5EF4-FFF2-40B4-BE49-F238E27FC236}">
                <a16:creationId xmlns:a16="http://schemas.microsoft.com/office/drawing/2014/main" id="{C65861E1-19F4-C8F7-371C-0A46C59F790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State Management with useState</a:t>
            </a:r>
          </a:p>
          <a:p>
            <a:pPr marL="0" lvl="1" indent="0">
              <a:buFont typeface="Arial" panose="020B0604020202020204" pitchFamily="34" charset="0"/>
              <a:buNone/>
            </a:pPr>
            <a:r>
              <a:t>useState hook manages React component state, enabling dynamic input handling and updates.</a:t>
            </a:r>
            <a:endParaRPr lang="en-US"/>
          </a:p>
          <a:p>
            <a:pPr marL="0" indent="0">
              <a:spcBef>
                <a:spcPts val="2500"/>
              </a:spcBef>
              <a:buFont typeface="Arial" panose="020B0604020202020204" pitchFamily="34" charset="0"/>
              <a:buNone/>
            </a:pPr>
            <a:r>
              <a:rPr lang="en-US" b="1"/>
              <a:t>Form Handling in React</a:t>
            </a:r>
          </a:p>
          <a:p>
            <a:pPr marL="0" lvl="1" indent="0">
              <a:buFont typeface="Arial" panose="020B0604020202020204" pitchFamily="34" charset="0"/>
              <a:buNone/>
            </a:pPr>
            <a:r>
              <a:t>Form elements capture user submissions using onSubmit event handlers in React components.</a:t>
            </a:r>
            <a:endParaRPr lang="en-US"/>
          </a:p>
          <a:p>
            <a:pPr marL="0" indent="0">
              <a:spcBef>
                <a:spcPts val="2500"/>
              </a:spcBef>
              <a:buFont typeface="Arial" panose="020B0604020202020204" pitchFamily="34" charset="0"/>
              <a:buNone/>
            </a:pPr>
            <a:r>
              <a:rPr lang="en-US" b="1"/>
              <a:t>Async Data Fetching with Axios</a:t>
            </a:r>
          </a:p>
          <a:p>
            <a:pPr marL="0" lvl="1" indent="0">
              <a:buFont typeface="Arial" panose="020B0604020202020204" pitchFamily="34" charset="0"/>
              <a:buNone/>
            </a:pPr>
            <a:r>
              <a:t>Axios is used for asynchronous HTTP requests to fetch data within React components.</a:t>
            </a:r>
            <a:endParaRPr lang="en-US"/>
          </a:p>
          <a:p>
            <a:pPr marL="0" indent="0">
              <a:spcBef>
                <a:spcPts val="2500"/>
              </a:spcBef>
              <a:buFont typeface="Arial" panose="020B0604020202020204" pitchFamily="34" charset="0"/>
              <a:buNone/>
            </a:pPr>
            <a:r>
              <a:rPr lang="en-US" b="1"/>
              <a:t>Conditional Rendering</a:t>
            </a:r>
          </a:p>
          <a:p>
            <a:pPr marL="0" lvl="1" indent="0">
              <a:buFont typeface="Arial" panose="020B0604020202020204" pitchFamily="34" charset="0"/>
              <a:buNone/>
            </a:pPr>
            <a:r>
              <a:t>React components use conditional rendering to display different content based on state values.</a:t>
            </a:r>
            <a:endParaRPr lang="en-US"/>
          </a:p>
        </p:txBody>
      </p:sp>
    </p:spTree>
    <p:extLst>
      <p:ext uri="{BB962C8B-B14F-4D97-AF65-F5344CB8AC3E}">
        <p14:creationId xmlns:p14="http://schemas.microsoft.com/office/powerpoint/2010/main" val="35174350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A226B-1E77-7501-E5D6-433A72F1F02A}"/>
              </a:ext>
            </a:extLst>
          </p:cNvPr>
          <p:cNvSpPr>
            <a:spLocks noGrp="1"/>
          </p:cNvSpPr>
          <p:nvPr>
            <p:ph type="ctrTitle"/>
          </p:nvPr>
        </p:nvSpPr>
        <p:spPr>
          <a:xfrm>
            <a:off x="609600" y="990600"/>
            <a:ext cx="10058400" cy="5029200"/>
          </a:xfrm>
        </p:spPr>
        <p:txBody>
          <a:bodyPr anchor="b">
            <a:normAutofit/>
          </a:bodyPr>
          <a:lstStyle/>
          <a:p>
            <a:r>
              <a:rPr lang="en-US"/>
              <a:t>Best Practices</a:t>
            </a:r>
          </a:p>
        </p:txBody>
      </p:sp>
    </p:spTree>
    <p:extLst>
      <p:ext uri="{BB962C8B-B14F-4D97-AF65-F5344CB8AC3E}">
        <p14:creationId xmlns:p14="http://schemas.microsoft.com/office/powerpoint/2010/main" val="3315823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C127-E299-9263-818D-0A8DB34F9ED6}"/>
              </a:ext>
            </a:extLst>
          </p:cNvPr>
          <p:cNvSpPr>
            <a:spLocks noGrp="1"/>
          </p:cNvSpPr>
          <p:nvPr>
            <p:ph type="title"/>
          </p:nvPr>
        </p:nvSpPr>
        <p:spPr>
          <a:xfrm>
            <a:off x="609599" y="685800"/>
            <a:ext cx="4564763" cy="1426798"/>
          </a:xfrm>
        </p:spPr>
        <p:txBody>
          <a:bodyPr anchor="b">
            <a:normAutofit/>
          </a:bodyPr>
          <a:lstStyle/>
          <a:p>
            <a:r>
              <a:rPr lang="en-US"/>
              <a:t>Best Practices</a:t>
            </a:r>
          </a:p>
        </p:txBody>
      </p:sp>
      <p:pic>
        <p:nvPicPr>
          <p:cNvPr id="5" name="Content Placeholder 4"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0CC794AF-2CF1-44F9-9B21-9E9CFFD7613A}"/>
              </a:ext>
            </a:extLst>
          </p:cNvPr>
          <p:cNvPicPr>
            <a:picLocks noGrp="1" noChangeAspect="1"/>
          </p:cNvPicPr>
          <p:nvPr>
            <p:ph type="pic" sz="quarter" idx="15"/>
          </p:nvPr>
        </p:nvPicPr>
        <p:blipFill>
          <a:blip r:embed="rId3"/>
          <a:stretch/>
        </p:blipFill>
        <p:spPr>
          <a:xfrm>
            <a:off x="609599" y="3049059"/>
            <a:ext cx="4564763" cy="2567679"/>
          </a:xfrm>
          <a:prstGeom prst="rect">
            <a:avLst/>
          </a:prstGeom>
          <a:noFill/>
        </p:spPr>
      </p:pic>
      <p:sp>
        <p:nvSpPr>
          <p:cNvPr id="4" name="Content Placeholder 3">
            <a:extLst>
              <a:ext uri="{FF2B5EF4-FFF2-40B4-BE49-F238E27FC236}">
                <a16:creationId xmlns:a16="http://schemas.microsoft.com/office/drawing/2014/main" id="{45E44448-1ECB-7E5B-7FA5-D0606A704DB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Controlled Components</a:t>
            </a:r>
          </a:p>
          <a:p>
            <a:pPr marL="0" lvl="1" indent="0">
              <a:buFont typeface="Arial" panose="020B0604020202020204" pitchFamily="34" charset="0"/>
              <a:buNone/>
            </a:pPr>
            <a:r>
              <a:t>Use controlled components to maintain consistent state across all form elements in React applications.</a:t>
            </a:r>
            <a:endParaRPr lang="en-US"/>
          </a:p>
          <a:p>
            <a:pPr marL="0" indent="0">
              <a:spcBef>
                <a:spcPts val="2500"/>
              </a:spcBef>
              <a:buFont typeface="Arial" panose="020B0604020202020204" pitchFamily="34" charset="0"/>
              <a:buNone/>
            </a:pPr>
            <a:r>
              <a:rPr lang="en-US" b="1"/>
              <a:t>Form Submission Handling</a:t>
            </a:r>
          </a:p>
          <a:p>
            <a:pPr marL="0" lvl="1" indent="0">
              <a:buFont typeface="Arial" panose="020B0604020202020204" pitchFamily="34" charset="0"/>
              <a:buNone/>
            </a:pPr>
            <a:r>
              <a:t>Apply preventDefault in form submissions to prevent page reloads and maintain smooth application flow.</a:t>
            </a:r>
            <a:endParaRPr lang="en-US"/>
          </a:p>
          <a:p>
            <a:pPr marL="0" indent="0">
              <a:spcBef>
                <a:spcPts val="2500"/>
              </a:spcBef>
              <a:buFont typeface="Arial" panose="020B0604020202020204" pitchFamily="34" charset="0"/>
              <a:buNone/>
            </a:pPr>
            <a:r>
              <a:rPr lang="en-US" b="1"/>
              <a:t>Error Handling with Axios</a:t>
            </a:r>
          </a:p>
          <a:p>
            <a:pPr marL="0" lvl="1" indent="0">
              <a:buFont typeface="Arial" panose="020B0604020202020204" pitchFamily="34" charset="0"/>
              <a:buNone/>
            </a:pPr>
            <a:r>
              <a:t>Wrap Axios API calls in try/catch blocks to handle errors effectively and simplify debugging.</a:t>
            </a:r>
            <a:endParaRPr lang="en-US"/>
          </a:p>
          <a:p>
            <a:pPr marL="0" indent="0">
              <a:spcBef>
                <a:spcPts val="2500"/>
              </a:spcBef>
              <a:buFont typeface="Arial" panose="020B0604020202020204" pitchFamily="34" charset="0"/>
              <a:buNone/>
            </a:pPr>
            <a:r>
              <a:rPr lang="en-US" b="1"/>
              <a:t>Reusable Components</a:t>
            </a:r>
          </a:p>
          <a:p>
            <a:pPr marL="0" lvl="1" indent="0">
              <a:buFont typeface="Arial" panose="020B0604020202020204" pitchFamily="34" charset="0"/>
              <a:buNone/>
            </a:pPr>
            <a:r>
              <a:t>Create reusable React components to enhance code maintainability, reduce duplication, and improve scalability.</a:t>
            </a:r>
            <a:endParaRPr lang="en-US"/>
          </a:p>
        </p:txBody>
      </p:sp>
    </p:spTree>
    <p:extLst>
      <p:ext uri="{BB962C8B-B14F-4D97-AF65-F5344CB8AC3E}">
        <p14:creationId xmlns:p14="http://schemas.microsoft.com/office/powerpoint/2010/main" val="275363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585E-3646-F94F-2F52-069154B549EF}"/>
              </a:ext>
            </a:extLst>
          </p:cNvPr>
          <p:cNvSpPr>
            <a:spLocks noGrp="1"/>
          </p:cNvSpPr>
          <p:nvPr>
            <p:ph type="ctrTitle"/>
          </p:nvPr>
        </p:nvSpPr>
        <p:spPr>
          <a:xfrm>
            <a:off x="609600" y="990600"/>
            <a:ext cx="10058400" cy="5029200"/>
          </a:xfrm>
        </p:spPr>
        <p:txBody>
          <a:bodyPr anchor="b">
            <a:normAutofit/>
          </a:bodyPr>
          <a:lstStyle/>
          <a:p>
            <a:r>
              <a:rPr lang="en-US"/>
              <a:t>Reference Materials</a:t>
            </a:r>
          </a:p>
        </p:txBody>
      </p:sp>
    </p:spTree>
    <p:extLst>
      <p:ext uri="{BB962C8B-B14F-4D97-AF65-F5344CB8AC3E}">
        <p14:creationId xmlns:p14="http://schemas.microsoft.com/office/powerpoint/2010/main" val="2633988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837C-83D9-46AF-28CC-170BA25553B8}"/>
              </a:ext>
            </a:extLst>
          </p:cNvPr>
          <p:cNvSpPr>
            <a:spLocks noGrp="1"/>
          </p:cNvSpPr>
          <p:nvPr>
            <p:ph type="title"/>
          </p:nvPr>
        </p:nvSpPr>
        <p:spPr>
          <a:xfrm>
            <a:off x="612647" y="685800"/>
            <a:ext cx="6858000" cy="1111532"/>
          </a:xfrm>
        </p:spPr>
        <p:txBody>
          <a:bodyPr anchor="b">
            <a:normAutofit/>
          </a:bodyPr>
          <a:lstStyle/>
          <a:p>
            <a:r>
              <a:rPr lang="en-US"/>
              <a:t>References</a:t>
            </a:r>
          </a:p>
        </p:txBody>
      </p:sp>
      <p:sp>
        <p:nvSpPr>
          <p:cNvPr id="4" name="Content Placeholder 3">
            <a:extLst>
              <a:ext uri="{FF2B5EF4-FFF2-40B4-BE49-F238E27FC236}">
                <a16:creationId xmlns:a16="http://schemas.microsoft.com/office/drawing/2014/main" id="{15E57CD8-A4F5-0F9E-6C9D-7261DA10EC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Official React Documentation</a:t>
            </a:r>
          </a:p>
          <a:p>
            <a:pPr marL="0" lvl="1" indent="0">
              <a:buFont typeface="Arial" panose="020B0604020202020204" pitchFamily="34" charset="0"/>
              <a:buNone/>
            </a:pPr>
            <a:r>
              <a:t>The React official documentation provides comprehensive details on React concepts, components, and hooks.</a:t>
            </a:r>
            <a:endParaRPr lang="en-US"/>
          </a:p>
          <a:p>
            <a:pPr marL="0" indent="0">
              <a:spcBef>
                <a:spcPts val="2500"/>
              </a:spcBef>
              <a:buFont typeface="Arial" panose="020B0604020202020204" pitchFamily="34" charset="0"/>
              <a:buNone/>
            </a:pPr>
            <a:r>
              <a:rPr lang="en-US" b="1"/>
              <a:t>Forms Tutorial</a:t>
            </a:r>
          </a:p>
          <a:p>
            <a:pPr marL="0" lvl="1" indent="0">
              <a:buFont typeface="Arial" panose="020B0604020202020204" pitchFamily="34" charset="0"/>
              <a:buNone/>
            </a:pPr>
            <a:r>
              <a:t>The Forms Tutorial explains building and managing forms using controlled components in React.</a:t>
            </a:r>
            <a:endParaRPr lang="en-US"/>
          </a:p>
          <a:p>
            <a:pPr marL="0" indent="0">
              <a:spcBef>
                <a:spcPts val="2500"/>
              </a:spcBef>
              <a:buFont typeface="Arial" panose="020B0604020202020204" pitchFamily="34" charset="0"/>
              <a:buNone/>
            </a:pPr>
            <a:r>
              <a:rPr lang="en-US" b="1"/>
              <a:t>useState Hook Tutorial</a:t>
            </a:r>
          </a:p>
          <a:p>
            <a:pPr marL="0" lvl="1" indent="0">
              <a:buFont typeface="Arial" panose="020B0604020202020204" pitchFamily="34" charset="0"/>
              <a:buNone/>
            </a:pPr>
            <a:r>
              <a:t>The useState Hook tutorial covers state management in functional React components effectively.</a:t>
            </a:r>
            <a:endParaRPr lang="en-US"/>
          </a:p>
          <a:p>
            <a:pPr marL="0" indent="0">
              <a:spcBef>
                <a:spcPts val="2500"/>
              </a:spcBef>
              <a:buFont typeface="Arial" panose="020B0604020202020204" pitchFamily="34" charset="0"/>
              <a:buNone/>
            </a:pPr>
            <a:r>
              <a:rPr lang="en-US" b="1"/>
              <a:t>Axios Async Tutorial</a:t>
            </a:r>
          </a:p>
          <a:p>
            <a:pPr marL="0" lvl="1" indent="0">
              <a:buFont typeface="Arial" panose="020B0604020202020204" pitchFamily="34" charset="0"/>
              <a:buNone/>
            </a:pPr>
            <a:r>
              <a:t>The Axios Async tutorial demonstrates handling HTTP requests with async/await in React apps.</a:t>
            </a:r>
            <a:endParaRPr lang="en-US"/>
          </a:p>
        </p:txBody>
      </p:sp>
      <p:pic>
        <p:nvPicPr>
          <p:cNvPr id="5" name="Content Placeholder 4" descr="laptop computer and computer symbol on screen">
            <a:extLst>
              <a:ext uri="{FF2B5EF4-FFF2-40B4-BE49-F238E27FC236}">
                <a16:creationId xmlns:a16="http://schemas.microsoft.com/office/drawing/2014/main" id="{1FF95302-65B1-40E7-8988-0427BF71D6CF}"/>
              </a:ext>
            </a:extLst>
          </p:cNvPr>
          <p:cNvPicPr>
            <a:picLocks noGrp="1" noChangeAspect="1"/>
          </p:cNvPicPr>
          <p:nvPr>
            <p:ph type="pic" sz="quarter" idx="13"/>
          </p:nvPr>
        </p:nvPicPr>
        <p:blipFill>
          <a:blip r:embed="rId3"/>
          <a:srcRect l="44363" r="15728"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723591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F10072-02C4-49CD-A62E-A2D45571E0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56</TotalTime>
  <Words>5</Words>
  <Application>Microsoft Office PowerPoint</Application>
  <PresentationFormat>Widescreen</PresentationFormat>
  <Paragraphs>3</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Blockwork elegance</vt:lpstr>
      <vt:lpstr>React Chapter 12 Summary</vt:lpstr>
      <vt:lpstr>Lesson Overview</vt:lpstr>
      <vt:lpstr>Lesson Objectives</vt:lpstr>
      <vt:lpstr>Core Topics</vt:lpstr>
      <vt:lpstr>Topics Covered</vt:lpstr>
      <vt:lpstr>React Vocabulary</vt:lpstr>
      <vt:lpstr>Vocabulary Terms</vt:lpstr>
      <vt:lpstr>Code Implementation</vt:lpstr>
      <vt:lpstr>Key Code Snippets</vt:lpstr>
      <vt:lpstr>Best Practices</vt:lpstr>
      <vt:lpstr>Best Practices</vt:lpstr>
      <vt:lpstr>Reference Materials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2025-08-04T03:17:32Z</dcterms:created>
  <dcterms:modified xsi:type="dcterms:W3CDTF">2025-11-05T22:40:44Z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