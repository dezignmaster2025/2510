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4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ACB4EB-2706-4F7E-BFF5-61296181722C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AE245A-F5F9-4FA0-9620-1AFD45887D9B}">
      <dgm:prSet/>
      <dgm:spPr/>
      <dgm:t>
        <a:bodyPr/>
        <a:lstStyle/>
        <a:p>
          <a:r>
            <a:rPr lang="en-US"/>
            <a:t>useEffect lets you perform side effects in function components.</a:t>
          </a:r>
        </a:p>
      </dgm:t>
    </dgm:pt>
    <dgm:pt modelId="{02E4B096-CE5B-4227-97E1-FE95FA652486}" type="parTrans" cxnId="{24EC4E1C-F848-4E40-A94C-E13BD757094F}">
      <dgm:prSet/>
      <dgm:spPr/>
      <dgm:t>
        <a:bodyPr/>
        <a:lstStyle/>
        <a:p>
          <a:endParaRPr lang="en-US"/>
        </a:p>
      </dgm:t>
    </dgm:pt>
    <dgm:pt modelId="{ACA6BC9B-499C-4BA0-8CC2-E306800B1DE3}" type="sibTrans" cxnId="{24EC4E1C-F848-4E40-A94C-E13BD757094F}">
      <dgm:prSet/>
      <dgm:spPr/>
      <dgm:t>
        <a:bodyPr/>
        <a:lstStyle/>
        <a:p>
          <a:endParaRPr lang="en-US"/>
        </a:p>
      </dgm:t>
    </dgm:pt>
    <dgm:pt modelId="{9FF6FA4A-8848-4AF4-982A-FA8D2003F2DA}">
      <dgm:prSet/>
      <dgm:spPr/>
      <dgm:t>
        <a:bodyPr/>
        <a:lstStyle/>
        <a:p>
          <a:r>
            <a:rPr lang="en-US"/>
            <a:t>Common uses: data fetching, subscriptions, manually changing the DOM.</a:t>
          </a:r>
        </a:p>
      </dgm:t>
    </dgm:pt>
    <dgm:pt modelId="{6871F3A8-2EA1-4A9D-B2DF-E05043C08EFA}" type="parTrans" cxnId="{7D3F458B-4221-456E-B8C1-6670B542FA35}">
      <dgm:prSet/>
      <dgm:spPr/>
      <dgm:t>
        <a:bodyPr/>
        <a:lstStyle/>
        <a:p>
          <a:endParaRPr lang="en-US"/>
        </a:p>
      </dgm:t>
    </dgm:pt>
    <dgm:pt modelId="{7CC4AA47-2AB3-4029-8B93-2BDDA227F0BA}" type="sibTrans" cxnId="{7D3F458B-4221-456E-B8C1-6670B542FA35}">
      <dgm:prSet/>
      <dgm:spPr/>
      <dgm:t>
        <a:bodyPr/>
        <a:lstStyle/>
        <a:p>
          <a:endParaRPr lang="en-US"/>
        </a:p>
      </dgm:t>
    </dgm:pt>
    <dgm:pt modelId="{04908222-3D74-4889-A99B-5F7766F9A596}">
      <dgm:prSet/>
      <dgm:spPr/>
      <dgm:t>
        <a:bodyPr/>
        <a:lstStyle/>
        <a:p>
          <a:r>
            <a:rPr lang="en-US"/>
            <a:t>Syntax: useEffect(() =&gt; { /* side effect */ }, [dependencies]);</a:t>
          </a:r>
        </a:p>
      </dgm:t>
    </dgm:pt>
    <dgm:pt modelId="{11485C1A-27E2-4563-AFD0-D620F721266C}" type="parTrans" cxnId="{5844C498-9A01-4D91-B45B-92482B834FEE}">
      <dgm:prSet/>
      <dgm:spPr/>
      <dgm:t>
        <a:bodyPr/>
        <a:lstStyle/>
        <a:p>
          <a:endParaRPr lang="en-US"/>
        </a:p>
      </dgm:t>
    </dgm:pt>
    <dgm:pt modelId="{A9FC6A1E-99BC-4F1C-844F-D23A641A69BA}" type="sibTrans" cxnId="{5844C498-9A01-4D91-B45B-92482B834FEE}">
      <dgm:prSet/>
      <dgm:spPr/>
      <dgm:t>
        <a:bodyPr/>
        <a:lstStyle/>
        <a:p>
          <a:endParaRPr lang="en-US"/>
        </a:p>
      </dgm:t>
    </dgm:pt>
    <dgm:pt modelId="{A8D3FEBF-CACF-4068-99E5-59277E0C7528}">
      <dgm:prSet/>
      <dgm:spPr/>
      <dgm:t>
        <a:bodyPr/>
        <a:lstStyle/>
        <a:p>
          <a:r>
            <a:rPr lang="en-US"/>
            <a:t>Runs after render; dependencies control when it re-runs.</a:t>
          </a:r>
        </a:p>
      </dgm:t>
    </dgm:pt>
    <dgm:pt modelId="{751AE3E7-3DAB-403A-A5BF-8EEC208F3D86}" type="parTrans" cxnId="{20109F96-D110-4A75-A45A-78EFA7F47C08}">
      <dgm:prSet/>
      <dgm:spPr/>
      <dgm:t>
        <a:bodyPr/>
        <a:lstStyle/>
        <a:p>
          <a:endParaRPr lang="en-US"/>
        </a:p>
      </dgm:t>
    </dgm:pt>
    <dgm:pt modelId="{4820ADF9-1643-4AB2-A972-3AEE26285064}" type="sibTrans" cxnId="{20109F96-D110-4A75-A45A-78EFA7F47C08}">
      <dgm:prSet/>
      <dgm:spPr/>
      <dgm:t>
        <a:bodyPr/>
        <a:lstStyle/>
        <a:p>
          <a:endParaRPr lang="en-US"/>
        </a:p>
      </dgm:t>
    </dgm:pt>
    <dgm:pt modelId="{22654B56-82F8-48E9-B6CC-9D9533905704}">
      <dgm:prSet/>
      <dgm:spPr/>
      <dgm:t>
        <a:bodyPr/>
        <a:lstStyle/>
        <a:p>
          <a:r>
            <a:rPr lang="en-US"/>
            <a:t>Clean-up logic can be returned from the effect function.</a:t>
          </a:r>
        </a:p>
      </dgm:t>
    </dgm:pt>
    <dgm:pt modelId="{8E8C1C2F-1B88-47AD-BAAA-E2F624F96AC9}" type="parTrans" cxnId="{740C68ED-4F5A-49E9-B163-121A11748D3E}">
      <dgm:prSet/>
      <dgm:spPr/>
      <dgm:t>
        <a:bodyPr/>
        <a:lstStyle/>
        <a:p>
          <a:endParaRPr lang="en-US"/>
        </a:p>
      </dgm:t>
    </dgm:pt>
    <dgm:pt modelId="{762A4807-D219-4055-9E22-784B5AD5908B}" type="sibTrans" cxnId="{740C68ED-4F5A-49E9-B163-121A11748D3E}">
      <dgm:prSet/>
      <dgm:spPr/>
      <dgm:t>
        <a:bodyPr/>
        <a:lstStyle/>
        <a:p>
          <a:endParaRPr lang="en-US"/>
        </a:p>
      </dgm:t>
    </dgm:pt>
    <dgm:pt modelId="{7F8A2210-6128-4F07-94CA-912ECD0F4DC4}" type="pres">
      <dgm:prSet presAssocID="{1FACB4EB-2706-4F7E-BFF5-61296181722C}" presName="diagram" presStyleCnt="0">
        <dgm:presLayoutVars>
          <dgm:dir/>
          <dgm:resizeHandles val="exact"/>
        </dgm:presLayoutVars>
      </dgm:prSet>
      <dgm:spPr/>
    </dgm:pt>
    <dgm:pt modelId="{F9876497-25C6-4895-84FC-2147F69D6B41}" type="pres">
      <dgm:prSet presAssocID="{C4AE245A-F5F9-4FA0-9620-1AFD45887D9B}" presName="node" presStyleLbl="node1" presStyleIdx="0" presStyleCnt="5">
        <dgm:presLayoutVars>
          <dgm:bulletEnabled val="1"/>
        </dgm:presLayoutVars>
      </dgm:prSet>
      <dgm:spPr/>
    </dgm:pt>
    <dgm:pt modelId="{5466DA15-2B94-46DC-9A68-6429C19AD70A}" type="pres">
      <dgm:prSet presAssocID="{ACA6BC9B-499C-4BA0-8CC2-E306800B1DE3}" presName="sibTrans" presStyleCnt="0"/>
      <dgm:spPr/>
    </dgm:pt>
    <dgm:pt modelId="{DA7AF510-4927-42A2-9B1F-073071C65B7C}" type="pres">
      <dgm:prSet presAssocID="{9FF6FA4A-8848-4AF4-982A-FA8D2003F2DA}" presName="node" presStyleLbl="node1" presStyleIdx="1" presStyleCnt="5">
        <dgm:presLayoutVars>
          <dgm:bulletEnabled val="1"/>
        </dgm:presLayoutVars>
      </dgm:prSet>
      <dgm:spPr/>
    </dgm:pt>
    <dgm:pt modelId="{9B569733-9885-4396-94CE-722A5E530C06}" type="pres">
      <dgm:prSet presAssocID="{7CC4AA47-2AB3-4029-8B93-2BDDA227F0BA}" presName="sibTrans" presStyleCnt="0"/>
      <dgm:spPr/>
    </dgm:pt>
    <dgm:pt modelId="{51FF1B7F-F440-4446-9354-7C34CA906A26}" type="pres">
      <dgm:prSet presAssocID="{04908222-3D74-4889-A99B-5F7766F9A596}" presName="node" presStyleLbl="node1" presStyleIdx="2" presStyleCnt="5">
        <dgm:presLayoutVars>
          <dgm:bulletEnabled val="1"/>
        </dgm:presLayoutVars>
      </dgm:prSet>
      <dgm:spPr/>
    </dgm:pt>
    <dgm:pt modelId="{0E631ADA-70BD-43A1-A6CE-9C7605222604}" type="pres">
      <dgm:prSet presAssocID="{A9FC6A1E-99BC-4F1C-844F-D23A641A69BA}" presName="sibTrans" presStyleCnt="0"/>
      <dgm:spPr/>
    </dgm:pt>
    <dgm:pt modelId="{E9493D3C-9BAC-4A30-88F4-E8A9D872771A}" type="pres">
      <dgm:prSet presAssocID="{A8D3FEBF-CACF-4068-99E5-59277E0C7528}" presName="node" presStyleLbl="node1" presStyleIdx="3" presStyleCnt="5">
        <dgm:presLayoutVars>
          <dgm:bulletEnabled val="1"/>
        </dgm:presLayoutVars>
      </dgm:prSet>
      <dgm:spPr/>
    </dgm:pt>
    <dgm:pt modelId="{165E4E89-5F24-4272-82D6-0C04279564FE}" type="pres">
      <dgm:prSet presAssocID="{4820ADF9-1643-4AB2-A972-3AEE26285064}" presName="sibTrans" presStyleCnt="0"/>
      <dgm:spPr/>
    </dgm:pt>
    <dgm:pt modelId="{7ACD5ED3-A153-4684-9D73-60FB2D918C04}" type="pres">
      <dgm:prSet presAssocID="{22654B56-82F8-48E9-B6CC-9D9533905704}" presName="node" presStyleLbl="node1" presStyleIdx="4" presStyleCnt="5">
        <dgm:presLayoutVars>
          <dgm:bulletEnabled val="1"/>
        </dgm:presLayoutVars>
      </dgm:prSet>
      <dgm:spPr/>
    </dgm:pt>
  </dgm:ptLst>
  <dgm:cxnLst>
    <dgm:cxn modelId="{24EC4E1C-F848-4E40-A94C-E13BD757094F}" srcId="{1FACB4EB-2706-4F7E-BFF5-61296181722C}" destId="{C4AE245A-F5F9-4FA0-9620-1AFD45887D9B}" srcOrd="0" destOrd="0" parTransId="{02E4B096-CE5B-4227-97E1-FE95FA652486}" sibTransId="{ACA6BC9B-499C-4BA0-8CC2-E306800B1DE3}"/>
    <dgm:cxn modelId="{34D6E937-2580-427A-ABBD-A86D0F1774F2}" type="presOf" srcId="{C4AE245A-F5F9-4FA0-9620-1AFD45887D9B}" destId="{F9876497-25C6-4895-84FC-2147F69D6B41}" srcOrd="0" destOrd="0" presId="urn:microsoft.com/office/officeart/2005/8/layout/default"/>
    <dgm:cxn modelId="{23B71E71-2565-4D5C-99F5-33C5AF2C12AC}" type="presOf" srcId="{22654B56-82F8-48E9-B6CC-9D9533905704}" destId="{7ACD5ED3-A153-4684-9D73-60FB2D918C04}" srcOrd="0" destOrd="0" presId="urn:microsoft.com/office/officeart/2005/8/layout/default"/>
    <dgm:cxn modelId="{BAA0C256-88D7-4554-8044-40BF6AD3824A}" type="presOf" srcId="{9FF6FA4A-8848-4AF4-982A-FA8D2003F2DA}" destId="{DA7AF510-4927-42A2-9B1F-073071C65B7C}" srcOrd="0" destOrd="0" presId="urn:microsoft.com/office/officeart/2005/8/layout/default"/>
    <dgm:cxn modelId="{7D3F458B-4221-456E-B8C1-6670B542FA35}" srcId="{1FACB4EB-2706-4F7E-BFF5-61296181722C}" destId="{9FF6FA4A-8848-4AF4-982A-FA8D2003F2DA}" srcOrd="1" destOrd="0" parTransId="{6871F3A8-2EA1-4A9D-B2DF-E05043C08EFA}" sibTransId="{7CC4AA47-2AB3-4029-8B93-2BDDA227F0BA}"/>
    <dgm:cxn modelId="{20109F96-D110-4A75-A45A-78EFA7F47C08}" srcId="{1FACB4EB-2706-4F7E-BFF5-61296181722C}" destId="{A8D3FEBF-CACF-4068-99E5-59277E0C7528}" srcOrd="3" destOrd="0" parTransId="{751AE3E7-3DAB-403A-A5BF-8EEC208F3D86}" sibTransId="{4820ADF9-1643-4AB2-A972-3AEE26285064}"/>
    <dgm:cxn modelId="{5844C498-9A01-4D91-B45B-92482B834FEE}" srcId="{1FACB4EB-2706-4F7E-BFF5-61296181722C}" destId="{04908222-3D74-4889-A99B-5F7766F9A596}" srcOrd="2" destOrd="0" parTransId="{11485C1A-27E2-4563-AFD0-D620F721266C}" sibTransId="{A9FC6A1E-99BC-4F1C-844F-D23A641A69BA}"/>
    <dgm:cxn modelId="{7DBD40E8-CE17-4DA0-A4E0-3F182C046EA2}" type="presOf" srcId="{A8D3FEBF-CACF-4068-99E5-59277E0C7528}" destId="{E9493D3C-9BAC-4A30-88F4-E8A9D872771A}" srcOrd="0" destOrd="0" presId="urn:microsoft.com/office/officeart/2005/8/layout/default"/>
    <dgm:cxn modelId="{516ED9EA-356A-43C9-A623-199ED25D36ED}" type="presOf" srcId="{1FACB4EB-2706-4F7E-BFF5-61296181722C}" destId="{7F8A2210-6128-4F07-94CA-912ECD0F4DC4}" srcOrd="0" destOrd="0" presId="urn:microsoft.com/office/officeart/2005/8/layout/default"/>
    <dgm:cxn modelId="{740C68ED-4F5A-49E9-B163-121A11748D3E}" srcId="{1FACB4EB-2706-4F7E-BFF5-61296181722C}" destId="{22654B56-82F8-48E9-B6CC-9D9533905704}" srcOrd="4" destOrd="0" parTransId="{8E8C1C2F-1B88-47AD-BAAA-E2F624F96AC9}" sibTransId="{762A4807-D219-4055-9E22-784B5AD5908B}"/>
    <dgm:cxn modelId="{66CE74FB-73B2-4ADF-8221-DE874B224312}" type="presOf" srcId="{04908222-3D74-4889-A99B-5F7766F9A596}" destId="{51FF1B7F-F440-4446-9354-7C34CA906A26}" srcOrd="0" destOrd="0" presId="urn:microsoft.com/office/officeart/2005/8/layout/default"/>
    <dgm:cxn modelId="{BC1DB908-B831-4468-B547-EE6A2C52E52F}" type="presParOf" srcId="{7F8A2210-6128-4F07-94CA-912ECD0F4DC4}" destId="{F9876497-25C6-4895-84FC-2147F69D6B41}" srcOrd="0" destOrd="0" presId="urn:microsoft.com/office/officeart/2005/8/layout/default"/>
    <dgm:cxn modelId="{828B52A4-81D6-425B-812C-BA057BD81502}" type="presParOf" srcId="{7F8A2210-6128-4F07-94CA-912ECD0F4DC4}" destId="{5466DA15-2B94-46DC-9A68-6429C19AD70A}" srcOrd="1" destOrd="0" presId="urn:microsoft.com/office/officeart/2005/8/layout/default"/>
    <dgm:cxn modelId="{ECC485C1-CD07-4805-97E3-493E7E078B70}" type="presParOf" srcId="{7F8A2210-6128-4F07-94CA-912ECD0F4DC4}" destId="{DA7AF510-4927-42A2-9B1F-073071C65B7C}" srcOrd="2" destOrd="0" presId="urn:microsoft.com/office/officeart/2005/8/layout/default"/>
    <dgm:cxn modelId="{45419CAB-375C-4230-97E3-BE9C6E19642C}" type="presParOf" srcId="{7F8A2210-6128-4F07-94CA-912ECD0F4DC4}" destId="{9B569733-9885-4396-94CE-722A5E530C06}" srcOrd="3" destOrd="0" presId="urn:microsoft.com/office/officeart/2005/8/layout/default"/>
    <dgm:cxn modelId="{7100E07B-D162-435F-9438-FF105B233319}" type="presParOf" srcId="{7F8A2210-6128-4F07-94CA-912ECD0F4DC4}" destId="{51FF1B7F-F440-4446-9354-7C34CA906A26}" srcOrd="4" destOrd="0" presId="urn:microsoft.com/office/officeart/2005/8/layout/default"/>
    <dgm:cxn modelId="{619A2DDD-79A1-4C25-AB27-2FAB0A159CD0}" type="presParOf" srcId="{7F8A2210-6128-4F07-94CA-912ECD0F4DC4}" destId="{0E631ADA-70BD-43A1-A6CE-9C7605222604}" srcOrd="5" destOrd="0" presId="urn:microsoft.com/office/officeart/2005/8/layout/default"/>
    <dgm:cxn modelId="{09C0A844-F8E4-4286-8623-60EC19B76AF1}" type="presParOf" srcId="{7F8A2210-6128-4F07-94CA-912ECD0F4DC4}" destId="{E9493D3C-9BAC-4A30-88F4-E8A9D872771A}" srcOrd="6" destOrd="0" presId="urn:microsoft.com/office/officeart/2005/8/layout/default"/>
    <dgm:cxn modelId="{CD025BEF-3373-4069-956D-5E5F9782646A}" type="presParOf" srcId="{7F8A2210-6128-4F07-94CA-912ECD0F4DC4}" destId="{165E4E89-5F24-4272-82D6-0C04279564FE}" srcOrd="7" destOrd="0" presId="urn:microsoft.com/office/officeart/2005/8/layout/default"/>
    <dgm:cxn modelId="{6BA13421-5886-4B2C-9D90-B78E96C085DE}" type="presParOf" srcId="{7F8A2210-6128-4F07-94CA-912ECD0F4DC4}" destId="{7ACD5ED3-A153-4684-9D73-60FB2D918C04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876497-25C6-4895-84FC-2147F69D6B41}">
      <dsp:nvSpPr>
        <dsp:cNvPr id="0" name=""/>
        <dsp:cNvSpPr/>
      </dsp:nvSpPr>
      <dsp:spPr>
        <a:xfrm>
          <a:off x="0" y="530541"/>
          <a:ext cx="2278186" cy="136691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useEffect lets you perform side effects in function components.</a:t>
          </a:r>
        </a:p>
      </dsp:txBody>
      <dsp:txXfrm>
        <a:off x="0" y="530541"/>
        <a:ext cx="2278186" cy="1366911"/>
      </dsp:txXfrm>
    </dsp:sp>
    <dsp:sp modelId="{DA7AF510-4927-42A2-9B1F-073071C65B7C}">
      <dsp:nvSpPr>
        <dsp:cNvPr id="0" name=""/>
        <dsp:cNvSpPr/>
      </dsp:nvSpPr>
      <dsp:spPr>
        <a:xfrm>
          <a:off x="2506005" y="530541"/>
          <a:ext cx="2278186" cy="1366911"/>
        </a:xfrm>
        <a:prstGeom prst="rect">
          <a:avLst/>
        </a:prstGeom>
        <a:solidFill>
          <a:schemeClr val="accent2">
            <a:hueOff val="-330843"/>
            <a:satOff val="373"/>
            <a:lumOff val="88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Common uses: data fetching, subscriptions, manually changing the DOM.</a:t>
          </a:r>
        </a:p>
      </dsp:txBody>
      <dsp:txXfrm>
        <a:off x="2506005" y="530541"/>
        <a:ext cx="2278186" cy="1366911"/>
      </dsp:txXfrm>
    </dsp:sp>
    <dsp:sp modelId="{51FF1B7F-F440-4446-9354-7C34CA906A26}">
      <dsp:nvSpPr>
        <dsp:cNvPr id="0" name=""/>
        <dsp:cNvSpPr/>
      </dsp:nvSpPr>
      <dsp:spPr>
        <a:xfrm>
          <a:off x="5012010" y="530541"/>
          <a:ext cx="2278186" cy="1366911"/>
        </a:xfrm>
        <a:prstGeom prst="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Syntax: useEffect(() =&gt; { /* side effect */ }, [dependencies]);</a:t>
          </a:r>
        </a:p>
      </dsp:txBody>
      <dsp:txXfrm>
        <a:off x="5012010" y="530541"/>
        <a:ext cx="2278186" cy="1366911"/>
      </dsp:txXfrm>
    </dsp:sp>
    <dsp:sp modelId="{E9493D3C-9BAC-4A30-88F4-E8A9D872771A}">
      <dsp:nvSpPr>
        <dsp:cNvPr id="0" name=""/>
        <dsp:cNvSpPr/>
      </dsp:nvSpPr>
      <dsp:spPr>
        <a:xfrm>
          <a:off x="1253002" y="2125271"/>
          <a:ext cx="2278186" cy="1366911"/>
        </a:xfrm>
        <a:prstGeom prst="rect">
          <a:avLst/>
        </a:prstGeom>
        <a:solidFill>
          <a:schemeClr val="accent2">
            <a:hueOff val="-992530"/>
            <a:satOff val="1119"/>
            <a:lumOff val="264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Runs after render; dependencies control when it re-runs.</a:t>
          </a:r>
        </a:p>
      </dsp:txBody>
      <dsp:txXfrm>
        <a:off x="1253002" y="2125271"/>
        <a:ext cx="2278186" cy="1366911"/>
      </dsp:txXfrm>
    </dsp:sp>
    <dsp:sp modelId="{7ACD5ED3-A153-4684-9D73-60FB2D918C04}">
      <dsp:nvSpPr>
        <dsp:cNvPr id="0" name=""/>
        <dsp:cNvSpPr/>
      </dsp:nvSpPr>
      <dsp:spPr>
        <a:xfrm>
          <a:off x="3759007" y="2125271"/>
          <a:ext cx="2278186" cy="1366911"/>
        </a:xfrm>
        <a:prstGeom prst="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Clean-up logic can be returned from the effect function.</a:t>
          </a:r>
        </a:p>
      </dsp:txBody>
      <dsp:txXfrm>
        <a:off x="3759007" y="2125271"/>
        <a:ext cx="2278186" cy="13669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260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0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521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836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70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24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33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2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56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40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35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5897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540FAC9-3505-49ED-9B06-A0F8C1485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544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79B3CD-E329-42F5-B136-BA1F37EC0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9098" y="484632"/>
            <a:ext cx="5590153" cy="58809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572" y="977900"/>
            <a:ext cx="4904668" cy="3327734"/>
          </a:xfrm>
        </p:spPr>
        <p:txBody>
          <a:bodyPr anchor="b">
            <a:normAutofit/>
          </a:bodyPr>
          <a:lstStyle/>
          <a:p>
            <a:br>
              <a:rPr lang="en-US" sz="4700" dirty="0"/>
            </a:br>
            <a:r>
              <a:rPr lang="en-US" sz="4700" dirty="0"/>
              <a:t>React Hooks– Lesson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72" y="4621235"/>
            <a:ext cx="4904668" cy="1225028"/>
          </a:xfrm>
        </p:spPr>
        <p:txBody>
          <a:bodyPr anchor="t">
            <a:normAutofit/>
          </a:bodyPr>
          <a:lstStyle/>
          <a:p>
            <a:pPr algn="r"/>
            <a:r>
              <a:rPr lang="en-US" sz="1700" dirty="0" err="1"/>
              <a:t>useEffect</a:t>
            </a:r>
            <a:r>
              <a:rPr lang="en-US" sz="1700" dirty="0"/>
              <a:t>, Custom Hooks, Fragments, and Component Composition</a:t>
            </a:r>
          </a:p>
          <a:p>
            <a:pPr algn="r"/>
            <a:r>
              <a:rPr lang="en-US" sz="1700" dirty="0"/>
              <a:t>Presented by: [Your Name]</a:t>
            </a:r>
          </a:p>
          <a:p>
            <a:pPr algn="r"/>
            <a:r>
              <a:rPr lang="en-US" sz="1700" dirty="0"/>
              <a:t>Course: 2510 React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B042EF-3024-4C57-B282-1B30607FB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19010" y="4476657"/>
            <a:ext cx="4028230" cy="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A0B4097-B645-43E0-A2B5-B8D688E74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9902" y="484632"/>
            <a:ext cx="2688168" cy="5880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>
              <a:solidFill>
                <a:prstClr val="white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useEffect and Side Effects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9A12B3F-A0C5-F59D-2F1A-2CABEB4C0D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7730588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useEffect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r>
              <a:rPr sz="2400" dirty="0" err="1"/>
              <a:t>useEffect</a:t>
            </a:r>
            <a:r>
              <a:rPr sz="2400" dirty="0"/>
              <a:t>(() =&gt; {</a:t>
            </a:r>
          </a:p>
          <a:p>
            <a:r>
              <a:rPr sz="2400" dirty="0"/>
              <a:t>  console.log('Component mounted');</a:t>
            </a:r>
          </a:p>
          <a:p>
            <a:r>
              <a:rPr sz="2400" dirty="0"/>
              <a:t>  return () =&gt; console.log('Component unmounted');</a:t>
            </a:r>
          </a:p>
          <a:p>
            <a:r>
              <a:rPr sz="2400" dirty="0"/>
              <a:t>}, []);</a:t>
            </a:r>
          </a:p>
          <a:p>
            <a:r>
              <a:rPr sz="2400" dirty="0"/>
              <a:t>Empty dependency array = run once on mount.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Hooks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Custom hooks let you extract and reuse logic between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They are regular functions that use built-in hooks.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Naming convention: start with 'use' (e.g., </a:t>
            </a:r>
            <a:r>
              <a:rPr sz="2400" dirty="0" err="1"/>
              <a:t>useLocalStorage</a:t>
            </a:r>
            <a:r>
              <a:rPr sz="2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Encapsulate stateful logic and side effects.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Custom Hook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096" y="2020824"/>
            <a:ext cx="7290055" cy="4023360"/>
          </a:xfrm>
        </p:spPr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sz="2600" dirty="0"/>
              <a:t>function </a:t>
            </a:r>
            <a:r>
              <a:rPr sz="2600" dirty="0" err="1"/>
              <a:t>useLocalStorage</a:t>
            </a:r>
            <a:r>
              <a:rPr sz="2600" dirty="0"/>
              <a:t>(key, </a:t>
            </a:r>
            <a:r>
              <a:rPr sz="2600" dirty="0" err="1"/>
              <a:t>initialValue</a:t>
            </a:r>
            <a:r>
              <a:rPr sz="2600" dirty="0"/>
              <a:t>) {</a:t>
            </a:r>
          </a:p>
          <a:p>
            <a:r>
              <a:rPr sz="2600" dirty="0"/>
              <a:t>  const [value, </a:t>
            </a:r>
            <a:r>
              <a:rPr sz="2600" dirty="0" err="1"/>
              <a:t>setValue</a:t>
            </a:r>
            <a:r>
              <a:rPr sz="2600" dirty="0"/>
              <a:t>] = </a:t>
            </a:r>
            <a:r>
              <a:rPr sz="2600" dirty="0" err="1"/>
              <a:t>useState</a:t>
            </a:r>
            <a:r>
              <a:rPr sz="2600" dirty="0"/>
              <a:t>(() =&gt; {</a:t>
            </a:r>
          </a:p>
          <a:p>
            <a:r>
              <a:rPr sz="2600" dirty="0"/>
              <a:t>    return </a:t>
            </a:r>
            <a:r>
              <a:rPr sz="2600" dirty="0" err="1"/>
              <a:t>localStorage.getItem</a:t>
            </a:r>
            <a:r>
              <a:rPr sz="2600" dirty="0"/>
              <a:t>(key) || </a:t>
            </a:r>
            <a:r>
              <a:rPr sz="2600" dirty="0" err="1"/>
              <a:t>initialValue</a:t>
            </a:r>
            <a:r>
              <a:rPr sz="2600" dirty="0"/>
              <a:t>;</a:t>
            </a:r>
          </a:p>
          <a:p>
            <a:r>
              <a:rPr sz="2600" dirty="0"/>
              <a:t>  });</a:t>
            </a:r>
          </a:p>
          <a:p>
            <a:r>
              <a:rPr sz="2600" dirty="0"/>
              <a:t>  </a:t>
            </a:r>
            <a:r>
              <a:rPr sz="2600" dirty="0" err="1"/>
              <a:t>useEffect</a:t>
            </a:r>
            <a:r>
              <a:rPr sz="2600" dirty="0"/>
              <a:t>(() =&gt; {</a:t>
            </a:r>
          </a:p>
          <a:p>
            <a:r>
              <a:rPr sz="2600" dirty="0"/>
              <a:t>    </a:t>
            </a:r>
            <a:r>
              <a:rPr sz="2600" dirty="0" err="1"/>
              <a:t>localStorage.setItem</a:t>
            </a:r>
            <a:r>
              <a:rPr sz="2600" dirty="0"/>
              <a:t>(key, value);</a:t>
            </a:r>
          </a:p>
          <a:p>
            <a:r>
              <a:rPr sz="2600" dirty="0"/>
              <a:t>  }, [key, value]);</a:t>
            </a:r>
          </a:p>
          <a:p>
            <a:r>
              <a:rPr sz="2600" dirty="0"/>
              <a:t>  return [value, </a:t>
            </a:r>
            <a:r>
              <a:rPr sz="2600" dirty="0" err="1"/>
              <a:t>setValue</a:t>
            </a:r>
            <a:r>
              <a:rPr sz="2600" dirty="0"/>
              <a:t>];</a:t>
            </a:r>
          </a:p>
          <a:p>
            <a:r>
              <a:rPr sz="2600" dirty="0"/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Fragments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Fragments let you group multiple elements without adding extra nodes to the DOM.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Syntax: &lt;&gt;...&lt;/&gt; or &lt;</a:t>
            </a:r>
            <a:r>
              <a:rPr sz="2400" dirty="0" err="1"/>
              <a:t>React.Fragment</a:t>
            </a:r>
            <a:r>
              <a:rPr sz="2400" dirty="0"/>
              <a:t>&gt;...&lt;/</a:t>
            </a:r>
            <a:r>
              <a:rPr sz="2400" dirty="0" err="1"/>
              <a:t>React.Fragment</a:t>
            </a:r>
            <a:r>
              <a:rPr sz="2400" dirty="0"/>
              <a:t>&gt;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Useful when returning multiple elements from a component.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Improves DOM structure and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Reusable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Break UI into smaller, reusable pieces.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Each component should do one thing well.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Pass data via props to customize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Promotes maintainability and scalability.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Compose components together to build complex UIs.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Use children props to nest components.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Higher-order components and render props are advanced 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 </a:t>
            </a:r>
            <a:r>
              <a:rPr sz="2400" dirty="0"/>
              <a:t>Encourages modular and flexible design.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64477d5-28bc-4281-951a-a6595459d476" xsi:nil="true"/>
    <_ip_UnifiedCompliancePolicyUIAction xmlns="http://schemas.microsoft.com/sharepoint/v3" xsi:nil="true"/>
    <_ip_UnifiedCompliancePolicyProperties xmlns="http://schemas.microsoft.com/sharepoint/v3" xsi:nil="true"/>
    <lcf76f155ced4ddcb4097134ff3c332f xmlns="a29706ce-7dd9-430f-9203-d15122c9954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C71FBD443DB645BC32CB9A99CF976B" ma:contentTypeVersion="18" ma:contentTypeDescription="Create a new document." ma:contentTypeScope="" ma:versionID="27444926869326fc33142517165c0c6e">
  <xsd:schema xmlns:xsd="http://www.w3.org/2001/XMLSchema" xmlns:xs="http://www.w3.org/2001/XMLSchema" xmlns:p="http://schemas.microsoft.com/office/2006/metadata/properties" xmlns:ns1="http://schemas.microsoft.com/sharepoint/v3" xmlns:ns2="a29706ce-7dd9-430f-9203-d15122c9954d" xmlns:ns3="564477d5-28bc-4281-951a-a6595459d476" targetNamespace="http://schemas.microsoft.com/office/2006/metadata/properties" ma:root="true" ma:fieldsID="a3f55a8f816f3f830bad0a70fc35b3cf" ns1:_="" ns2:_="" ns3:_="">
    <xsd:import namespace="http://schemas.microsoft.com/sharepoint/v3"/>
    <xsd:import namespace="a29706ce-7dd9-430f-9203-d15122c9954d"/>
    <xsd:import namespace="564477d5-28bc-4281-951a-a6595459d4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706ce-7dd9-430f-9203-d15122c995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fab9d10e-cf46-43c3-8dbe-852b4cfb5d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477d5-28bc-4281-951a-a6595459d47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a014298-9250-4e8d-9453-de0460558e4e}" ma:internalName="TaxCatchAll" ma:showField="CatchAllData" ma:web="564477d5-28bc-4281-951a-a6595459d4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04446DB-BEFC-4CD5-93D0-E41818370F2E}">
  <ds:schemaRefs>
    <ds:schemaRef ds:uri="http://schemas.microsoft.com/office/2006/metadata/properties"/>
    <ds:schemaRef ds:uri="http://schemas.microsoft.com/office/infopath/2007/PartnerControls"/>
    <ds:schemaRef ds:uri="564477d5-28bc-4281-951a-a6595459d476"/>
    <ds:schemaRef ds:uri="http://schemas.microsoft.com/sharepoint/v3"/>
    <ds:schemaRef ds:uri="a29706ce-7dd9-430f-9203-d15122c9954d"/>
  </ds:schemaRefs>
</ds:datastoreItem>
</file>

<file path=customXml/itemProps2.xml><?xml version="1.0" encoding="utf-8"?>
<ds:datastoreItem xmlns:ds="http://schemas.openxmlformats.org/officeDocument/2006/customXml" ds:itemID="{178EB5AF-9001-4B00-A2E2-2408FC4B0EC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49E155-6DA8-4E8A-A6B8-671FED40D1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29706ce-7dd9-430f-9203-d15122c9954d"/>
    <ds:schemaRef ds:uri="564477d5-28bc-4281-951a-a6595459d47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</TotalTime>
  <Words>357</Words>
  <Application>Microsoft Office PowerPoint</Application>
  <PresentationFormat>On-screen Show (4:3)</PresentationFormat>
  <Paragraphs>52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Integral</vt:lpstr>
      <vt:lpstr> React Hooks– Lesson 5</vt:lpstr>
      <vt:lpstr>useEffect and Side Effects</vt:lpstr>
      <vt:lpstr>Example: useEffect</vt:lpstr>
      <vt:lpstr>Custom Hooks</vt:lpstr>
      <vt:lpstr>Example: Custom Hook</vt:lpstr>
      <vt:lpstr>React Fragments</vt:lpstr>
      <vt:lpstr>Reusable Components</vt:lpstr>
      <vt:lpstr>Component Composition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Walthour, Moreland</cp:lastModifiedBy>
  <cp:revision>8</cp:revision>
  <dcterms:created xsi:type="dcterms:W3CDTF">2013-01-27T09:14:16Z</dcterms:created>
  <dcterms:modified xsi:type="dcterms:W3CDTF">2025-10-19T20:46:39Z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0x01010012C71FBD443DB645BC32CB9A99CF976B</vt:lpwstr>
  </property>
</Properties>
</file>